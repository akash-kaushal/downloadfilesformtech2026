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D615A-E8E9-4259-9E36-33195A8E79C0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578A0E-5B12-46F7-98A4-B09DD4319F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883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578A0E-5B12-46F7-98A4-B09DD4319F6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870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578A0E-5B12-46F7-98A4-B09DD4319F6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406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169" y="-56788"/>
            <a:ext cx="12320337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650" y="4286994"/>
            <a:ext cx="5600700" cy="15181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5375" y="1052661"/>
            <a:ext cx="10001250" cy="1846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 dirty="0">
                <a:solidFill>
                  <a:srgbClr val="F1F5F9"/>
                </a:solidFill>
                <a:latin typeface="Inter"/>
              </a:rPr>
              <a:t>Offline Health Monitoring and Anomaly Detection for </a:t>
            </a:r>
            <a:r>
              <a:rPr sz="4200" b="1" dirty="0">
                <a:solidFill>
                  <a:srgbClr val="F1F5F9"/>
                </a:solidFill>
                <a:latin typeface="Inter"/>
              </a:rPr>
              <a:t>Embedded Units</a:t>
            </a:r>
            <a:r>
              <a:rPr lang="en-IN" sz="4200" b="1" dirty="0">
                <a:solidFill>
                  <a:srgbClr val="F1F5F9"/>
                </a:solidFill>
                <a:latin typeface="Inter"/>
              </a:rPr>
              <a:t> Using Multi-Sensor Telemetry Logs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611358" y="4950391"/>
            <a:ext cx="5600700" cy="272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1" dirty="0">
                <a:solidFill>
                  <a:schemeClr val="bg1"/>
                </a:solidFill>
                <a:latin typeface="Inter"/>
              </a:rPr>
              <a:t>Candidate: </a:t>
            </a:r>
            <a:r>
              <a:rPr lang="en-IN" b="1" dirty="0">
                <a:solidFill>
                  <a:schemeClr val="bg1"/>
                </a:solidFill>
                <a:latin typeface="Inter"/>
              </a:rPr>
              <a:t>Akash Kaushal (MT25MCS016)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415" y="5312147"/>
            <a:ext cx="5600700" cy="272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1" dirty="0">
                <a:solidFill>
                  <a:schemeClr val="bg1"/>
                </a:solidFill>
                <a:latin typeface="Inter"/>
              </a:rPr>
              <a:t>Degree: </a:t>
            </a:r>
            <a:r>
              <a:rPr b="1" dirty="0" err="1">
                <a:solidFill>
                  <a:schemeClr val="bg1"/>
                </a:solidFill>
                <a:latin typeface="Inter"/>
              </a:rPr>
              <a:t>M.Tech</a:t>
            </a:r>
            <a:r>
              <a:rPr b="1" dirty="0">
                <a:solidFill>
                  <a:schemeClr val="bg1"/>
                </a:solidFill>
                <a:latin typeface="Inter"/>
              </a:rPr>
              <a:t> 2nd Year, Computer Science &amp; Engineering</a:t>
            </a:r>
            <a:endParaRPr lang="en-IN" b="1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58765" y="3966934"/>
            <a:ext cx="5600700" cy="257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1" i="0" u="none" dirty="0">
                <a:solidFill>
                  <a:schemeClr val="bg1"/>
                </a:solidFill>
                <a:latin typeface="Inter"/>
              </a:rPr>
              <a:t>Context:</a:t>
            </a:r>
            <a:r>
              <a:rPr sz="1350" b="0" i="0" u="none" dirty="0">
                <a:solidFill>
                  <a:schemeClr val="bg1"/>
                </a:solidFill>
                <a:latin typeface="Inter"/>
              </a:rPr>
              <a:t> Ground-Test Telemetry Analytics &amp; Predictive Maintenance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4E01F-FFCA-EC8E-012E-6871473FA2F4}"/>
              </a:ext>
            </a:extLst>
          </p:cNvPr>
          <p:cNvSpPr txBox="1"/>
          <p:nvPr/>
        </p:nvSpPr>
        <p:spPr>
          <a:xfrm>
            <a:off x="6722048" y="4850482"/>
            <a:ext cx="6368716" cy="119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94A3B8"/>
                </a:solidFill>
                <a:latin typeface="Inter"/>
              </a:rPr>
              <a:t>   </a:t>
            </a:r>
            <a:r>
              <a:rPr lang="en-IN" b="1" dirty="0">
                <a:solidFill>
                  <a:schemeClr val="bg1"/>
                </a:solidFill>
                <a:latin typeface="Inter"/>
              </a:rPr>
              <a:t>Under the Guidance of:</a:t>
            </a:r>
          </a:p>
          <a:p>
            <a:r>
              <a:rPr lang="en-IN" b="1" dirty="0">
                <a:solidFill>
                  <a:schemeClr val="bg1"/>
                </a:solidFill>
                <a:latin typeface="Inter"/>
              </a:rPr>
              <a:t>   Dr. Ashish S. Tiwari [Assistant Professor]</a:t>
            </a:r>
          </a:p>
          <a:p>
            <a:r>
              <a:rPr lang="en-IN" b="1" dirty="0">
                <a:solidFill>
                  <a:schemeClr val="bg1"/>
                </a:solidFill>
                <a:latin typeface="Inter"/>
              </a:rPr>
              <a:t>   Department of Computer Science &amp; Engineering</a:t>
            </a:r>
          </a:p>
          <a:p>
            <a:pPr algn="ctr">
              <a:lnSpc>
                <a:spcPts val="2160"/>
              </a:lnSpc>
            </a:pPr>
            <a:endParaRPr lang="en-GB" sz="1800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" y="852487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514475"/>
            <a:ext cx="52387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95350" y="1524000"/>
            <a:ext cx="4933950" cy="2446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b="1" dirty="0">
                <a:solidFill>
                  <a:schemeClr val="bg1"/>
                </a:solidFill>
              </a:rPr>
              <a:t>Line Replaceable Unit (LRU): </a:t>
            </a:r>
            <a:r>
              <a:rPr dirty="0">
                <a:solidFill>
                  <a:schemeClr val="bg1"/>
                </a:solidFill>
              </a:rPr>
              <a:t>A ruggedized, sealed edge computer</a:t>
            </a:r>
            <a:r>
              <a:rPr lang="en-IN" dirty="0">
                <a:solidFill>
                  <a:schemeClr val="bg1"/>
                </a:solidFill>
              </a:rPr>
              <a:t>.</a:t>
            </a:r>
            <a:r>
              <a:rPr dirty="0">
                <a:solidFill>
                  <a:schemeClr val="bg1"/>
                </a:solidFill>
              </a:rPr>
              <a:t> Contains processors (DSP, FPGA, MCUs), multi-layer PCBs, and switching power supplies.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GB" dirty="0">
                <a:solidFill>
                  <a:schemeClr val="bg1"/>
                </a:solidFill>
              </a:rPr>
              <a:t>(The smallest self-contained hardware or software assembly that maintenance crew can swap out right at the flight line without extensive disassembly or specialized tools. enclosure used in aerospace.)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5350" y="4323393"/>
            <a:ext cx="4933950" cy="12150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b="1" dirty="0">
                <a:solidFill>
                  <a:schemeClr val="bg1"/>
                </a:solidFill>
              </a:rPr>
              <a:t>The Operational Challenge</a:t>
            </a:r>
            <a:r>
              <a:rPr dirty="0">
                <a:solidFill>
                  <a:schemeClr val="bg1"/>
                </a:solidFill>
              </a:rPr>
              <a:t>: Runs in unconditioned bays without data-center cooling. Subjected to thermal swings, internal moisture ingress, and high-vibration engine shocks.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5678962"/>
            <a:ext cx="4933950" cy="12150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b="1" dirty="0">
                <a:solidFill>
                  <a:schemeClr val="bg1"/>
                </a:solidFill>
              </a:rPr>
              <a:t>The Maintenance Gap: </a:t>
            </a:r>
            <a:r>
              <a:rPr dirty="0">
                <a:solidFill>
                  <a:schemeClr val="bg1"/>
                </a:solidFill>
              </a:rPr>
              <a:t>Currently relies on fixed schedules or calendar hours. Healthy units get replaced prematurely, while latent physical damage between intervals goes undetected.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524000"/>
            <a:ext cx="5219700" cy="3790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1533525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661" y="4269581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3243" y="5592125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1F5F9"/>
                </a:solidFill>
                <a:latin typeface="Inter"/>
              </a:rPr>
              <a:t>Problem Background: </a:t>
            </a:r>
            <a:r>
              <a:rPr sz="3600" b="1" i="0" u="none">
                <a:solidFill>
                  <a:srgbClr val="38BDF8"/>
                </a:solidFill>
                <a:latin typeface="Inter"/>
              </a:rPr>
              <a:t>What is an LRU?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962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85862"/>
            <a:ext cx="52387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81750" y="1185862"/>
            <a:ext cx="550068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E2E8F0"/>
                </a:solidFill>
                <a:latin typeface="Inter SemiBold"/>
              </a:rPr>
              <a:t>Why Offline Ground Analysis?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1750" y="3624262"/>
            <a:ext cx="550068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E2E8F0"/>
                </a:solidFill>
                <a:latin typeface="Inter SemiBold"/>
              </a:rPr>
              <a:t>Key Advantages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195387"/>
            <a:ext cx="5219700" cy="3790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86550" y="1662112"/>
            <a:ext cx="4933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Focuses on post-test ground logs (engine ground runs, taxi tests, environmental stress screenings).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86550" y="2500312"/>
            <a:ext cx="4933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Logs are dumped to local memory and extracted via USB/Ethernet after testing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86550" y="4100512"/>
            <a:ext cx="4933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No strict power/compute constraints of real-time flight controllers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6550" y="4938712"/>
            <a:ext cx="4933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Allows deep multi-domain feature engineering (e.g., high-resolution FFT, spectral wavelets).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86550" y="5776912"/>
            <a:ext cx="4933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Enables batch sequence processing and detailed PDF diagnostic report generation.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1750" y="1681162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1750" y="2519362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1750" y="4119562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1750" y="4957762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1750" y="5795962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242887"/>
            <a:ext cx="1160145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1F5F9"/>
                </a:solidFill>
                <a:latin typeface="Inter"/>
              </a:rPr>
              <a:t>Scope: </a:t>
            </a:r>
            <a:r>
              <a:rPr sz="3600" b="1" i="0" u="none">
                <a:solidFill>
                  <a:srgbClr val="38BDF8"/>
                </a:solidFill>
                <a:latin typeface="Inter"/>
              </a:rPr>
              <a:t>Ground-Test Offline Log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" y="99494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938212"/>
            <a:ext cx="5381625" cy="5924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938212"/>
            <a:ext cx="5381625" cy="5924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1252537"/>
            <a:ext cx="609600" cy="60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5825" y="2090737"/>
            <a:ext cx="499062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E2E8F0"/>
                </a:solidFill>
                <a:latin typeface="Inter SemiBold"/>
              </a:rPr>
              <a:t>TI HDC3022DEJR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2757487"/>
            <a:ext cx="47529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High-precision digital temperature and relative humidity sensor.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1252537"/>
            <a:ext cx="609600" cy="609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53200" y="2090737"/>
            <a:ext cx="499062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E2E8F0"/>
                </a:solidFill>
                <a:latin typeface="Inter SemiBold"/>
              </a:rPr>
              <a:t>ADI ADXL314WBCPZ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0" y="2757487"/>
            <a:ext cx="4752975" cy="2917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High-g triaxial accelerometer ( ).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00" y="1423987"/>
            <a:ext cx="171450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90625" y="3748087"/>
            <a:ext cx="44481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Monitors: Internal heating, cooling efficiency, moisture accumulation, dew-point proximity.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0625" y="4586287"/>
            <a:ext cx="4448175" cy="2917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Rate: Low frequency (~0.2 Hz to 1 Hz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).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5119687"/>
            <a:ext cx="4752975" cy="14287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1312" y="1423987"/>
            <a:ext cx="333375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0546" y="2799778"/>
            <a:ext cx="957560" cy="2571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58000" y="3443287"/>
            <a:ext cx="44481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Monitors: Structural resonance, loose mechanical mountings, landing/taxiing shock transients.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586287"/>
            <a:ext cx="4448175" cy="2917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Rate: High frequency (bursts up to 1 kHz).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200" y="5119687"/>
            <a:ext cx="4752975" cy="14287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5825" y="3767137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4605337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200" y="3462337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200" y="4605337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-4762"/>
            <a:ext cx="1160145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1F5F9"/>
                </a:solidFill>
                <a:latin typeface="Inter"/>
              </a:rPr>
              <a:t>Data Sources &amp; </a:t>
            </a:r>
            <a:r>
              <a:rPr sz="3600" b="1" i="0" u="none">
                <a:solidFill>
                  <a:srgbClr val="38BDF8"/>
                </a:solidFill>
                <a:latin typeface="Inter"/>
              </a:rPr>
              <a:t>The Sensors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" y="-928688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6300" y="957262"/>
            <a:ext cx="10744200" cy="2917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1. Asynchronous Multi-Rate Data Fusion</a:t>
            </a:r>
            <a:r>
              <a:rPr sz="1500" b="0" i="0" u="none" dirty="0">
                <a:solidFill>
                  <a:srgbClr val="F1F5F9"/>
                </a:solidFill>
                <a:latin typeface="Inter SemiBold"/>
              </a:rPr>
              <a:t>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2347912"/>
            <a:ext cx="10744200" cy="2917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2. Unsupervised Learning Setting: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707635"/>
            <a:ext cx="10744200" cy="2917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3. Non-Stationary Dynamics: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976312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347912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719512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1376362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375" y="1332382"/>
            <a:ext cx="10515600" cy="291747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Vibration logs produce thousands of points per second; temperature updates once every few seconds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1795462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375" y="1748514"/>
            <a:ext cx="10515600" cy="291747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dirty="0" err="1">
                <a:solidFill>
                  <a:schemeClr val="bg1"/>
                </a:solidFill>
              </a:rPr>
              <a:t>Downsampling</a:t>
            </a:r>
            <a:r>
              <a:rPr dirty="0">
                <a:solidFill>
                  <a:schemeClr val="bg1"/>
                </a:solidFill>
              </a:rPr>
              <a:t> acceleration directly smooths out and loses critical high-g shock peaks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" y="2747962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900" y="2747962"/>
            <a:ext cx="10515600" cy="291747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In mission-critical aerospace hardware, systems are never run until catastrophic physical failure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25" y="3167062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4425" y="3098035"/>
            <a:ext cx="10515600" cy="291747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There are no labeled 'failure' classes—the model must learn nominal baselines without supervised target labels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125" y="4119562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900" y="4119562"/>
            <a:ext cx="10515600" cy="291747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Normal operational shocks (e.g., ground bumps) must be distinguished from true hardware degradation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14287"/>
            <a:ext cx="1160145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1F5F9"/>
                </a:solidFill>
                <a:latin typeface="Inter"/>
              </a:rPr>
              <a:t>The Computer Science </a:t>
            </a:r>
            <a:r>
              <a:rPr sz="3600" b="1" i="0" u="none">
                <a:solidFill>
                  <a:srgbClr val="38BDF8"/>
                </a:solidFill>
                <a:latin typeface="Inter"/>
              </a:rPr>
              <a:t>Problem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CAE7AA0-24AD-729B-D73E-156E5C645A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2339" y="4562034"/>
            <a:ext cx="7095282" cy="20704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" y="-1674939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23974"/>
            <a:ext cx="7620000" cy="80099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999" y="1260276"/>
            <a:ext cx="7620000" cy="75053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2461643"/>
            <a:ext cx="7620000" cy="80099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3614016"/>
            <a:ext cx="7620000" cy="73382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5997" y="4723121"/>
            <a:ext cx="7620000" cy="84102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0275" y="950192"/>
            <a:ext cx="17145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0274" y="2129728"/>
            <a:ext cx="17145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0273" y="3357883"/>
            <a:ext cx="17145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0272" y="4388766"/>
            <a:ext cx="17145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419823" y="244287"/>
            <a:ext cx="718089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dirty="0">
                <a:solidFill>
                  <a:schemeClr val="bg1"/>
                </a:solidFill>
              </a:rPr>
              <a:t>Raw Ground Logs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78430" y="474244"/>
            <a:ext cx="6838950" cy="281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05551" y="1332349"/>
            <a:ext cx="718089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dirty="0">
                <a:solidFill>
                  <a:schemeClr val="bg1"/>
                </a:solidFill>
              </a:rPr>
              <a:t>Log Parsing &amp; Sanitization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0800" y="1638450"/>
            <a:ext cx="6838950" cy="230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400" b="0" i="0" u="none" dirty="0">
                <a:solidFill>
                  <a:srgbClr val="CBD5E1"/>
                </a:solidFill>
                <a:latin typeface="Inter"/>
              </a:rPr>
              <a:t>Missing value handling, calibration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5550" y="2501203"/>
            <a:ext cx="718089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dirty="0">
                <a:solidFill>
                  <a:schemeClr val="bg1"/>
                </a:solidFill>
              </a:rPr>
              <a:t>Multi-Rate Feature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7474" y="2838002"/>
            <a:ext cx="6838950" cy="230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400" b="0" i="0" u="none" dirty="0">
                <a:solidFill>
                  <a:srgbClr val="CBD5E1"/>
                </a:solidFill>
                <a:latin typeface="Inter"/>
              </a:rPr>
              <a:t>1-second sliding epochs (Vibration: RMS, Kurtosis, FFT | Env: dT/dt)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5549" y="3612602"/>
            <a:ext cx="718089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dirty="0">
                <a:solidFill>
                  <a:schemeClr val="bg1"/>
                </a:solidFill>
              </a:rPr>
              <a:t>Unsupervised Learning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7474" y="3890684"/>
            <a:ext cx="6838950" cy="230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400" b="0" i="0" u="none" dirty="0">
                <a:solidFill>
                  <a:srgbClr val="CBD5E1"/>
                </a:solidFill>
                <a:latin typeface="Inter"/>
              </a:rPr>
              <a:t>Baseline ML → Deep TCN Autoencoder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6501" y="4812893"/>
            <a:ext cx="718089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dirty="0">
                <a:solidFill>
                  <a:schemeClr val="bg1"/>
                </a:solidFill>
              </a:rPr>
              <a:t>Output Condition 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7474" y="5148364"/>
            <a:ext cx="6838950" cy="230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400" b="0" i="0" u="none" dirty="0">
                <a:solidFill>
                  <a:srgbClr val="CBD5E1"/>
                </a:solidFill>
                <a:latin typeface="Inter"/>
              </a:rPr>
              <a:t>Anomaly Score Profile | Unit Health Index (1.0 → 0.0)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-795188"/>
            <a:ext cx="1160145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1F5F9"/>
                </a:solidFill>
                <a:latin typeface="Inter"/>
              </a:rPr>
              <a:t>Proposed System </a:t>
            </a:r>
            <a:r>
              <a:rPr sz="3600" b="1" i="0" u="none">
                <a:solidFill>
                  <a:srgbClr val="38BDF8"/>
                </a:solidFill>
                <a:latin typeface="Inter"/>
              </a:rPr>
              <a:t>Architecture</a:t>
            </a:r>
          </a:p>
        </p:txBody>
      </p:sp>
      <p:pic>
        <p:nvPicPr>
          <p:cNvPr id="24" name="Picture 23" descr="image.png">
            <a:extLst>
              <a:ext uri="{FF2B5EF4-FFF2-40B4-BE49-F238E27FC236}">
                <a16:creationId xmlns:a16="http://schemas.microsoft.com/office/drawing/2014/main" id="{0023C531-04E3-3EB9-F124-33CA4C0AD8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0" y="120008"/>
            <a:ext cx="7620000" cy="8410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-1297767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17728"/>
            <a:ext cx="11049000" cy="2917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ts val="2400"/>
              </a:lnSpc>
              <a:defRPr sz="1500" b="0" i="0" u="none">
                <a:solidFill>
                  <a:srgbClr val="CBD5E1"/>
                </a:solidFill>
                <a:latin typeface="Inter"/>
              </a:defRPr>
            </a:lvl1pPr>
          </a:lstStyle>
          <a:p>
            <a:r>
              <a:rPr sz="1800" dirty="0">
                <a:solidFill>
                  <a:schemeClr val="bg1"/>
                </a:solidFill>
                <a:latin typeface="+mn-lt"/>
              </a:rPr>
              <a:t>Multi-Domain Feature Extraction (per 1-second window):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5447" y="1013668"/>
            <a:ext cx="4933950" cy="2917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Time-Domain Vibration: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5447" y="3166318"/>
            <a:ext cx="4933950" cy="2917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Frequency-Domain Vibration</a:t>
            </a:r>
            <a:r>
              <a:rPr sz="1500" b="0" i="0" u="none" dirty="0">
                <a:solidFill>
                  <a:srgbClr val="F1F5F9"/>
                </a:solidFill>
                <a:latin typeface="Inter SemiBold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4366468"/>
            <a:ext cx="4933950" cy="2917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Thermodynamic Metrics</a:t>
            </a:r>
            <a:r>
              <a:rPr sz="1500" b="0" i="0" u="none" dirty="0">
                <a:solidFill>
                  <a:srgbClr val="F1F5F9"/>
                </a:solidFill>
                <a:latin typeface="Inter SemiBold"/>
              </a:rPr>
              <a:t>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122546"/>
            <a:ext cx="4953000" cy="5995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i="0" u="none" dirty="0">
                <a:solidFill>
                  <a:srgbClr val="38BDF8"/>
                </a:solidFill>
                <a:latin typeface="Inter SemiBold"/>
              </a:rPr>
              <a:t>Result: A synchronized 22-dimensional feature vector per second.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1032718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128218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385518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1432768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" y="1432768"/>
            <a:ext cx="4705350" cy="291747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RMS: Measures continuous vibration energy.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1851868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757" y="1841707"/>
            <a:ext cx="4705350" cy="6096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Kurtosis: Detects impulsive, non-Gaussian shock impacts.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9153" y="2565607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4047" y="2539123"/>
            <a:ext cx="4705350" cy="291747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Crest Factor: Peak amplitude divided by RMS.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" y="3528268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900" y="3528268"/>
            <a:ext cx="4705350" cy="6096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FFT Energy Bands: Measures energy shifts toward structural resonance frequencies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125" y="4785568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" y="4785568"/>
            <a:ext cx="4705350" cy="599523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Thermal Slope ( ): Detects overheating ramp rates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0125" y="5549056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4900" y="5549056"/>
            <a:ext cx="4705350" cy="6096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Dew Point Delta ( ): Flags risk of internal moisture condensation.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625" y="5110162"/>
            <a:ext cx="247650" cy="344388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9402" y="5895681"/>
            <a:ext cx="1024235" cy="28277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71500" y="-615106"/>
            <a:ext cx="1160145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1F5F9"/>
                </a:solidFill>
                <a:latin typeface="Inter"/>
              </a:rPr>
              <a:t>Feature Engineering </a:t>
            </a:r>
            <a:r>
              <a:rPr sz="3600" b="1" i="0" u="none">
                <a:solidFill>
                  <a:srgbClr val="38BDF8"/>
                </a:solidFill>
                <a:latin typeface="Inter"/>
              </a:rPr>
              <a:t>Pipeline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D56CFB7-E92A-675B-DE23-55C066C7D1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6802" y="-300782"/>
            <a:ext cx="573955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-1867206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9" y="2780993"/>
            <a:ext cx="5238750" cy="98982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669280"/>
            <a:ext cx="5238750" cy="30801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73284"/>
            <a:ext cx="550068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 dirty="0">
                <a:solidFill>
                  <a:srgbClr val="E2E8F0"/>
                </a:solidFill>
                <a:latin typeface="Inter SemiBold"/>
              </a:rPr>
              <a:t>Core Concept: Reconstruction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964088"/>
            <a:ext cx="550068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 dirty="0">
                <a:solidFill>
                  <a:srgbClr val="E2E8F0"/>
                </a:solidFill>
                <a:latin typeface="Inter SemiBold"/>
              </a:rPr>
              <a:t>Progression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299" y="723236"/>
            <a:ext cx="4933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The model is trained only on verified, normal ground-run logs.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868" y="1375807"/>
            <a:ext cx="4933950" cy="6096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Learns normal temporal coupling between temperature, humidity, and vibration.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868" y="2057704"/>
            <a:ext cx="4933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Anomaly Metric: Nominal inputs yield low reconstruction error. Abnormal runs yield high error.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593" y="2899209"/>
            <a:ext cx="3151584" cy="7188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4868" y="4330909"/>
            <a:ext cx="4933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Phase 1: Classical baselines (Isolation Forest, One-Class SVM, PCA).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868" y="4940509"/>
            <a:ext cx="4933950" cy="5995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Phase 2: Deep Temporal Convolutional Autoencoder (TCAE) with causal convolutions.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750" y="669280"/>
            <a:ext cx="5238750" cy="308014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1632" y="699399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17" y="1375019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17" y="2045291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148" y="4319173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566" y="4928091"/>
            <a:ext cx="19050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-835669"/>
            <a:ext cx="11601450" cy="1123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1F5F9"/>
                </a:solidFill>
                <a:latin typeface="Inter"/>
              </a:rPr>
              <a:t>Modeling Methodology: </a:t>
            </a:r>
            <a:r>
              <a:rPr sz="3600" b="1" i="0" u="none">
                <a:solidFill>
                  <a:srgbClr val="38BDF8"/>
                </a:solidFill>
                <a:latin typeface="Inter"/>
              </a:rPr>
              <a:t>Unsupervised Autoencoders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870" y="-11575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788909"/>
            <a:ext cx="5334000" cy="46880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794444"/>
            <a:ext cx="5334000" cy="46880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5350" y="1080194"/>
            <a:ext cx="496062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 dirty="0">
                <a:solidFill>
                  <a:srgbClr val="38BDF8"/>
                </a:solidFill>
                <a:latin typeface="Inter SemiBold"/>
              </a:rPr>
              <a:t>Phase 1 (Semester III)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0350" y="1080194"/>
            <a:ext cx="496062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Phase 2 (Semester IV)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50" y="1540879"/>
            <a:ext cx="4419600" cy="36056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b="1" dirty="0"/>
              <a:t> </a:t>
            </a:r>
            <a:r>
              <a:rPr lang="en-IN" b="1" dirty="0">
                <a:solidFill>
                  <a:schemeClr val="bg1"/>
                </a:solidFill>
              </a:rPr>
              <a:t>Data Pipeline, Features &amp; Baselines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pPr lvl="0"/>
            <a:r>
              <a:rPr lang="en-IN" b="1" dirty="0">
                <a:solidFill>
                  <a:schemeClr val="bg1"/>
                </a:solidFill>
              </a:rPr>
              <a:t>Data Ingestion &amp; Sanitation:</a:t>
            </a:r>
            <a:r>
              <a:rPr lang="en-IN" dirty="0">
                <a:solidFill>
                  <a:schemeClr val="bg1"/>
                </a:solidFill>
              </a:rPr>
              <a:t> Develop robust scripts for HDC3022 &amp; ADXL314 raw log extraction and handle missing values.</a:t>
            </a:r>
          </a:p>
          <a:p>
            <a:pPr lvl="0"/>
            <a:r>
              <a:rPr lang="en-IN" b="1" dirty="0">
                <a:solidFill>
                  <a:schemeClr val="bg1"/>
                </a:solidFill>
              </a:rPr>
              <a:t>Feature Engineering:</a:t>
            </a:r>
            <a:r>
              <a:rPr lang="en-IN" dirty="0">
                <a:solidFill>
                  <a:schemeClr val="bg1"/>
                </a:solidFill>
              </a:rPr>
              <a:t> Extract FFT spectral bands and align multi-rate statistical features.</a:t>
            </a:r>
          </a:p>
          <a:p>
            <a:pPr lvl="0"/>
            <a:r>
              <a:rPr lang="en-IN" b="1" dirty="0">
                <a:solidFill>
                  <a:schemeClr val="bg1"/>
                </a:solidFill>
              </a:rPr>
              <a:t>Baseline Benchmarking:</a:t>
            </a:r>
            <a:r>
              <a:rPr lang="en-IN" dirty="0">
                <a:solidFill>
                  <a:schemeClr val="bg1"/>
                </a:solidFill>
              </a:rPr>
              <a:t> Train and evaluate classical unsupervised models (Isolation Forest, One-Class SVM).</a:t>
            </a:r>
          </a:p>
          <a:p>
            <a:r>
              <a:rPr lang="en-IN" b="1" dirty="0">
                <a:solidFill>
                  <a:schemeClr val="bg1"/>
                </a:solidFill>
              </a:rPr>
              <a:t>Deliverables:</a:t>
            </a:r>
            <a:r>
              <a:rPr lang="en-IN" dirty="0">
                <a:solidFill>
                  <a:schemeClr val="bg1"/>
                </a:solidFill>
              </a:rPr>
              <a:t> Stage-I Progress Report and baseline performance benchmark.</a:t>
            </a:r>
          </a:p>
          <a:p>
            <a:pPr algn="l">
              <a:lnSpc>
                <a:spcPts val="2400"/>
              </a:lnSpc>
            </a:pPr>
            <a:endParaRPr sz="1500" b="0" i="0" u="none" dirty="0">
              <a:solidFill>
                <a:srgbClr val="CBD5E1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80860" y="1545954"/>
            <a:ext cx="4419600" cy="3328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Deep Models, Health Index &amp; Packaging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pPr lvl="0"/>
            <a:r>
              <a:rPr lang="en-IN" b="1" dirty="0">
                <a:solidFill>
                  <a:schemeClr val="bg1"/>
                </a:solidFill>
              </a:rPr>
              <a:t>Deep Learning Architecture:</a:t>
            </a:r>
            <a:r>
              <a:rPr lang="en-IN" dirty="0">
                <a:solidFill>
                  <a:schemeClr val="bg1"/>
                </a:solidFill>
              </a:rPr>
              <a:t> Build, train, and optimize the Temporal Convolutional Autoencoder (</a:t>
            </a:r>
            <a:r>
              <a:rPr lang="en-IN" dirty="0" err="1">
                <a:solidFill>
                  <a:schemeClr val="bg1"/>
                </a:solidFill>
              </a:rPr>
              <a:t>PyTorch</a:t>
            </a:r>
            <a:r>
              <a:rPr lang="en-IN" dirty="0">
                <a:solidFill>
                  <a:schemeClr val="bg1"/>
                </a:solidFill>
              </a:rPr>
              <a:t>).</a:t>
            </a:r>
          </a:p>
          <a:p>
            <a:pPr lvl="0"/>
            <a:r>
              <a:rPr lang="en-IN" b="1" dirty="0">
                <a:solidFill>
                  <a:schemeClr val="bg1"/>
                </a:solidFill>
              </a:rPr>
              <a:t>Health Index Engine:</a:t>
            </a:r>
            <a:r>
              <a:rPr lang="en-IN" dirty="0">
                <a:solidFill>
                  <a:schemeClr val="bg1"/>
                </a:solidFill>
              </a:rPr>
              <a:t> Implement the cumulative scoring mechanism and test against synthetic fault injections.</a:t>
            </a:r>
          </a:p>
          <a:p>
            <a:pPr lvl="0"/>
            <a:r>
              <a:rPr lang="en-IN" b="1" dirty="0">
                <a:solidFill>
                  <a:schemeClr val="bg1"/>
                </a:solidFill>
              </a:rPr>
              <a:t>Tool Packaging:</a:t>
            </a:r>
            <a:r>
              <a:rPr lang="en-IN" dirty="0">
                <a:solidFill>
                  <a:schemeClr val="bg1"/>
                </a:solidFill>
              </a:rPr>
              <a:t> Wrap the pipeline into an offline desktop diagnostic tool and finalize academic publications.</a:t>
            </a:r>
          </a:p>
          <a:p>
            <a:pPr algn="l">
              <a:lnSpc>
                <a:spcPts val="2400"/>
              </a:lnSpc>
            </a:pPr>
            <a:endParaRPr sz="1500" b="0" i="0" u="none" dirty="0">
              <a:solidFill>
                <a:srgbClr val="CBD5E1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5350" y="2061269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350" y="2833686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350" y="3413819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0350" y="2061269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0350" y="2899469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0350" y="3737669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95634"/>
            <a:ext cx="1160145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 dirty="0">
                <a:solidFill>
                  <a:srgbClr val="F1F5F9"/>
                </a:solidFill>
                <a:latin typeface="Inter"/>
              </a:rPr>
              <a:t>Two-Phase </a:t>
            </a:r>
            <a:r>
              <a:rPr sz="3600" b="1" i="0" u="none" dirty="0">
                <a:solidFill>
                  <a:srgbClr val="38BDF8"/>
                </a:solidFill>
                <a:latin typeface="Inter"/>
              </a:rPr>
              <a:t>Project Milestones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ECEE4E-B82D-4D3B-767C-F923F3D38AC7}"/>
              </a:ext>
            </a:extLst>
          </p:cNvPr>
          <p:cNvSpPr txBox="1"/>
          <p:nvPr/>
        </p:nvSpPr>
        <p:spPr>
          <a:xfrm>
            <a:off x="892456" y="4187132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38BDF8"/>
                </a:solidFill>
                <a:latin typeface="Inter"/>
              </a:rPr>
              <a:t>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08332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261937"/>
            <a:ext cx="5238750" cy="32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61937"/>
            <a:ext cx="550068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2100" b="0" i="0" u="none" dirty="0">
                <a:solidFill>
                  <a:srgbClr val="E2E8F0"/>
                </a:solidFill>
                <a:latin typeface="Inter SemiBold"/>
              </a:rPr>
              <a:t> </a:t>
            </a:r>
            <a:r>
              <a:rPr sz="2100" b="0" i="0" u="none" dirty="0">
                <a:solidFill>
                  <a:srgbClr val="E2E8F0"/>
                </a:solidFill>
                <a:latin typeface="Inter SemiBold"/>
              </a:rPr>
              <a:t>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535" y="3803593"/>
            <a:ext cx="550068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 dirty="0">
                <a:solidFill>
                  <a:srgbClr val="E2E8F0"/>
                </a:solidFill>
                <a:latin typeface="Inter SemiBold"/>
              </a:rPr>
              <a:t>Evaluation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738187"/>
            <a:ext cx="49339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Offline Diagnostic Tool: Python-based GUI/CLI application generating automated health reports from test logs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7111" y="1593056"/>
            <a:ext cx="49339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Trained Weights &amp; Pipeline Code: Documented feature extraction and pre-trained neural network models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867" y="2552699"/>
            <a:ext cx="49339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dirty="0" err="1">
                <a:solidFill>
                  <a:schemeClr val="bg1"/>
                </a:solidFill>
              </a:rPr>
              <a:t>M.Tech</a:t>
            </a:r>
            <a:r>
              <a:rPr dirty="0">
                <a:solidFill>
                  <a:schemeClr val="bg1"/>
                </a:solidFill>
              </a:rPr>
              <a:t> Dissertation &amp; Publication: Academic paper targeted at an IEEE/ACM applied computing conference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204928"/>
            <a:ext cx="4933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Reconstruction accuracy (RMSE, MAE on nominal test runs).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830773"/>
            <a:ext cx="4933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dirty="0">
                <a:solidFill>
                  <a:schemeClr val="bg1"/>
                </a:solidFill>
              </a:rPr>
              <a:t>Fault detection rate (Precision, Recall, F1 on synthetic stress &amp; fault-injection logs).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464061"/>
            <a:ext cx="4933950" cy="5995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GB" dirty="0">
                <a:solidFill>
                  <a:schemeClr val="bg1"/>
                </a:solidFill>
              </a:rPr>
              <a:t>Processing speed (target: process a 1-hour ground test log in                                       </a:t>
            </a:r>
            <a:r>
              <a:rPr dirty="0">
                <a:solidFill>
                  <a:schemeClr val="bg1"/>
                </a:solidFill>
              </a:rPr>
              <a:t>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275" y="271462"/>
            <a:ext cx="5219700" cy="32181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757237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1595437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535" y="2547695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372" y="4185753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243" y="4775931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243" y="5411556"/>
            <a:ext cx="190500" cy="138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6458" y="5809304"/>
            <a:ext cx="1929110" cy="2095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6736" y="-716993"/>
            <a:ext cx="1160145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1F5F9"/>
                </a:solidFill>
                <a:latin typeface="Inter"/>
              </a:rPr>
              <a:t>Expected Deliverables &amp; </a:t>
            </a:r>
            <a:r>
              <a:rPr sz="3600" b="1" i="0" u="none">
                <a:solidFill>
                  <a:srgbClr val="38BDF8"/>
                </a:solidFill>
                <a:latin typeface="Inter"/>
              </a:rPr>
              <a:t>Evaluation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0073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514475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2299245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084016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386878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465355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205800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277152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38592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38592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464403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464403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542880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" y="542880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0626" y="5666123"/>
            <a:ext cx="9953625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F. T. Liu, K. M. Ting, and Z. H. Zhou, "Isolation Forest," IEEE International Conference on Data Mining (ICDM), 2008</a:t>
            </a:r>
            <a:r>
              <a:rPr lang="en-IN" sz="1200" dirty="0"/>
              <a:t>.</a:t>
            </a:r>
            <a:endParaRPr sz="1200" b="0" i="0" u="none" dirty="0">
              <a:solidFill>
                <a:srgbClr val="4F46E5"/>
              </a:solidFill>
              <a:latin typeface="Inter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3600" b="1" dirty="0">
                <a:solidFill>
                  <a:srgbClr val="F1F5F9"/>
                </a:solidFill>
                <a:latin typeface="Inter"/>
              </a:rPr>
              <a:t>References</a:t>
            </a:r>
            <a:endParaRPr sz="3600" b="1" i="0" u="none" dirty="0">
              <a:solidFill>
                <a:srgbClr val="F1F5F9"/>
              </a:solidFill>
              <a:latin typeface="Inter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9386A4-F060-EB4D-5D25-8E1B2FACFBB4}"/>
              </a:ext>
            </a:extLst>
          </p:cNvPr>
          <p:cNvSpPr txBox="1"/>
          <p:nvPr/>
        </p:nvSpPr>
        <p:spPr>
          <a:xfrm>
            <a:off x="723537" y="2077641"/>
            <a:ext cx="9953625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S. Bai, J. Z. Kolter, and V. Koltun, "An Empirical Evaluation of Generic Convolutional and Recurrent Networks for Sequence </a:t>
            </a:r>
            <a:r>
              <a:rPr lang="en-IN" sz="2000" dirty="0" err="1">
                <a:solidFill>
                  <a:schemeClr val="bg1"/>
                </a:solidFill>
              </a:rPr>
              <a:t>Modeling</a:t>
            </a:r>
            <a:r>
              <a:rPr lang="en-IN" sz="2000" dirty="0">
                <a:solidFill>
                  <a:schemeClr val="bg1"/>
                </a:solidFill>
              </a:rPr>
              <a:t>," arXiv:1803.01271, 2018.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3D9991-CC1E-1ABC-D1E0-55B5D6ACEBAE}"/>
              </a:ext>
            </a:extLst>
          </p:cNvPr>
          <p:cNvSpPr txBox="1"/>
          <p:nvPr/>
        </p:nvSpPr>
        <p:spPr>
          <a:xfrm>
            <a:off x="700629" y="2886295"/>
            <a:ext cx="9953625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K. </a:t>
            </a:r>
            <a:r>
              <a:rPr lang="en-IN" sz="2000" dirty="0" err="1">
                <a:solidFill>
                  <a:schemeClr val="bg1"/>
                </a:solidFill>
              </a:rPr>
              <a:t>Hundman</a:t>
            </a:r>
            <a:r>
              <a:rPr lang="en-IN" sz="2000" dirty="0">
                <a:solidFill>
                  <a:schemeClr val="bg1"/>
                </a:solidFill>
              </a:rPr>
              <a:t> et al., "Detecting Spacecraft Anomalies Using LSTMs and Nonparametric Dynamic Thresholding," Proceedings of the 24th ACM SIGKDD International Conference on Knowledge Discovery &amp; Data Mining, 2018.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20A62F9-141C-A37C-A044-9CBB63936A65}"/>
              </a:ext>
            </a:extLst>
          </p:cNvPr>
          <p:cNvSpPr txBox="1"/>
          <p:nvPr/>
        </p:nvSpPr>
        <p:spPr>
          <a:xfrm>
            <a:off x="746928" y="1316686"/>
            <a:ext cx="9953625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P. Malhotra et al., </a:t>
            </a:r>
            <a:r>
              <a:rPr lang="en-IN" sz="2000" i="1" dirty="0">
                <a:solidFill>
                  <a:schemeClr val="bg1"/>
                </a:solidFill>
              </a:rPr>
              <a:t>"LSTM-based Encoder-Decoder for Multi-Sensor Anomaly Detection,"</a:t>
            </a:r>
            <a:r>
              <a:rPr lang="en-IN" sz="2000" dirty="0">
                <a:solidFill>
                  <a:schemeClr val="bg1"/>
                </a:solidFill>
              </a:rPr>
              <a:t> ICML Workshop on Machine Learning for Anomalies, 2016</a:t>
            </a:r>
            <a:r>
              <a:rPr lang="en-IN" sz="1200" dirty="0"/>
              <a:t>.</a:t>
            </a:r>
            <a:endParaRPr sz="1200" b="0" i="0" u="none" dirty="0">
              <a:solidFill>
                <a:srgbClr val="4F46E5"/>
              </a:solidFill>
              <a:latin typeface="Inter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11DD8AE-B7C0-6EC7-8571-CA6367E9D3AC}"/>
                  </a:ext>
                </a:extLst>
              </p:cNvPr>
              <p:cNvSpPr txBox="1"/>
              <p:nvPr/>
            </p:nvSpPr>
            <p:spPr>
              <a:xfrm>
                <a:off x="700627" y="4890877"/>
                <a:ext cx="9953625" cy="3077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en-IN" sz="2000" dirty="0">
                    <a:solidFill>
                      <a:schemeClr val="bg1"/>
                    </a:solidFill>
                  </a:rPr>
                  <a:t>Analog Devices, "ADXL314 </a:t>
                </a:r>
                <a14:m>
                  <m:oMath xmlns:m="http://schemas.openxmlformats.org/officeDocument/2006/math">
                    <m:r>
                      <a:rPr lang="en-IN" sz="2000">
                        <a:solidFill>
                          <a:schemeClr val="bg1"/>
                        </a:solidFill>
                      </a:rPr>
                      <m:t>±200</m:t>
                    </m:r>
                    <m:r>
                      <m:rPr>
                        <m:nor/>
                      </m:rPr>
                      <a:rPr lang="en-IN" sz="2000">
                        <a:solidFill>
                          <a:schemeClr val="bg1"/>
                        </a:solidFill>
                      </a:rPr>
                      <m:t>g</m:t>
                    </m:r>
                  </m:oMath>
                </a14:m>
                <a:r>
                  <a:rPr lang="en-IN" sz="2000" dirty="0">
                    <a:solidFill>
                      <a:schemeClr val="bg1"/>
                    </a:solidFill>
                  </a:rPr>
                  <a:t>16-Bit Digital Accelerometer Datasheet," 2020.</a:t>
                </a:r>
                <a:endParaRPr sz="2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11DD8AE-B7C0-6EC7-8571-CA6367E9D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627" y="4890877"/>
                <a:ext cx="9953625" cy="307777"/>
              </a:xfrm>
              <a:prstGeom prst="rect">
                <a:avLst/>
              </a:prstGeom>
              <a:blipFill>
                <a:blip r:embed="rId3"/>
                <a:stretch>
                  <a:fillRect l="-1592" t="-25490" b="-490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5C5AAE80-D3EA-291A-F011-66C4C3B3B151}"/>
              </a:ext>
            </a:extLst>
          </p:cNvPr>
          <p:cNvSpPr txBox="1"/>
          <p:nvPr/>
        </p:nvSpPr>
        <p:spPr>
          <a:xfrm>
            <a:off x="700628" y="3925565"/>
            <a:ext cx="9953625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Texas Instruments, "HDC3022 High-Accuracy Digital Relative Humidity and Temperature Sensor Datasheet," 2021.</a:t>
            </a:r>
            <a:endParaRPr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71500" y="1514475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2299245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22897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22897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30744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30744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>
            <a:extLst>
              <a:ext uri="{FF2B5EF4-FFF2-40B4-BE49-F238E27FC236}">
                <a16:creationId xmlns:a16="http://schemas.microsoft.com/office/drawing/2014/main" id="{B43ED660-B6F6-A8A3-3C4F-2FEEC1952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9465DD6-DA8A-2FAA-B3C4-359CC47D8484}"/>
              </a:ext>
            </a:extLst>
          </p:cNvPr>
          <p:cNvSpPr txBox="1"/>
          <p:nvPr/>
        </p:nvSpPr>
        <p:spPr>
          <a:xfrm>
            <a:off x="490012" y="2536477"/>
            <a:ext cx="3422459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 dirty="0">
                <a:solidFill>
                  <a:srgbClr val="F1F5F9"/>
                </a:solidFill>
                <a:latin typeface="Inter"/>
              </a:rPr>
              <a:t>Questions?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683E29-4F7C-1BE5-23D3-80A79EDD6BC7}"/>
              </a:ext>
            </a:extLst>
          </p:cNvPr>
          <p:cNvSpPr txBox="1"/>
          <p:nvPr/>
        </p:nvSpPr>
        <p:spPr>
          <a:xfrm>
            <a:off x="648592" y="3727102"/>
            <a:ext cx="310515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CBD5E1"/>
                </a:solidFill>
                <a:latin typeface="Inter"/>
              </a:rPr>
              <a:t>Thank you for your attention.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1122</Words>
  <Application>Microsoft Office PowerPoint</Application>
  <PresentationFormat>Widescreen</PresentationFormat>
  <Paragraphs>148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Inter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Akash Kaushal</dc:creator>
  <cp:keywords/>
  <dc:description>generated using python-pptx</dc:description>
  <cp:lastModifiedBy>Akash Kaushal</cp:lastModifiedBy>
  <cp:revision>3</cp:revision>
  <dcterms:created xsi:type="dcterms:W3CDTF">2013-01-27T09:14:16Z</dcterms:created>
  <dcterms:modified xsi:type="dcterms:W3CDTF">2026-09-08T19:21:20Z</dcterms:modified>
  <cp:category/>
</cp:coreProperties>
</file>